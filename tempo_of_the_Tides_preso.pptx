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3fd3fe0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d3fd3fe0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Game is based on a pirate ship</a:t>
            </a:r>
            <a:endParaRPr/>
          </a:p>
          <a:p>
            <a:pPr indent="0" lvl="0" marL="0" rtl="0" algn="l">
              <a:spcBef>
                <a:spcPts val="0"/>
              </a:spcBef>
              <a:spcAft>
                <a:spcPts val="0"/>
              </a:spcAft>
              <a:buNone/>
            </a:pPr>
            <a:r>
              <a:rPr lang="en-GB"/>
              <a:t>Escape off with treasure</a:t>
            </a:r>
            <a:endParaRPr/>
          </a:p>
          <a:p>
            <a:pPr indent="0" lvl="0" marL="0" rtl="0" algn="l">
              <a:spcBef>
                <a:spcPts val="0"/>
              </a:spcBef>
              <a:spcAft>
                <a:spcPts val="0"/>
              </a:spcAft>
              <a:buNone/>
            </a:pPr>
            <a:r>
              <a:rPr lang="en-GB"/>
              <a:t>Main character is a robber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d4a7118a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dd4a7118a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Moving on the beat</a:t>
            </a:r>
            <a:endParaRPr/>
          </a:p>
          <a:p>
            <a:pPr indent="0" lvl="0" marL="0" rtl="0" algn="l">
              <a:spcBef>
                <a:spcPts val="0"/>
              </a:spcBef>
              <a:spcAft>
                <a:spcPts val="0"/>
              </a:spcAft>
              <a:buNone/>
            </a:pPr>
            <a:r>
              <a:rPr lang="en-GB"/>
              <a:t>Red border indicates trip</a:t>
            </a:r>
            <a:endParaRPr/>
          </a:p>
          <a:p>
            <a:pPr indent="0" lvl="0" marL="0" rtl="0" algn="l">
              <a:spcBef>
                <a:spcPts val="0"/>
              </a:spcBef>
              <a:spcAft>
                <a:spcPts val="0"/>
              </a:spcAft>
              <a:buNone/>
            </a:pPr>
            <a:r>
              <a:rPr lang="en-GB"/>
              <a:t>Enemy red eyes indicate chasing the player</a:t>
            </a:r>
            <a:endParaRPr/>
          </a:p>
          <a:p>
            <a:pPr indent="0" lvl="0" marL="0" rtl="0" algn="l">
              <a:spcBef>
                <a:spcPts val="0"/>
              </a:spcBef>
              <a:spcAft>
                <a:spcPts val="0"/>
              </a:spcAft>
              <a:buNone/>
            </a:pPr>
            <a:r>
              <a:rPr lang="en-GB"/>
              <a:t>Using trap to sacrifice score to escape from enemy</a:t>
            </a:r>
            <a:endParaRPr/>
          </a:p>
          <a:p>
            <a:pPr indent="0" lvl="0" marL="0" rtl="0" algn="l">
              <a:spcBef>
                <a:spcPts val="0"/>
              </a:spcBef>
              <a:spcAft>
                <a:spcPts val="0"/>
              </a:spcAft>
              <a:buNone/>
            </a:pPr>
            <a:r>
              <a:rPr lang="en-GB"/>
              <a:t>Collect keys/bonus chest</a:t>
            </a:r>
            <a:endParaRPr/>
          </a:p>
          <a:p>
            <a:pPr indent="0" lvl="0" marL="0" rtl="0" algn="l">
              <a:spcBef>
                <a:spcPts val="0"/>
              </a:spcBef>
              <a:spcAft>
                <a:spcPts val="0"/>
              </a:spcAft>
              <a:buNone/>
            </a:pPr>
            <a:r>
              <a:rPr lang="en-GB"/>
              <a:t>Escape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dd4a7118a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dd4a7118a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d4a7118a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d4a7118a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df4cf275d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df4cf275d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State example: moving onto a trap (IdleState -&gt; MoveState -&gt; DamageState -&gt; IdleState or CaptureState)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df4cf27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df4cf27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Save Manager handles save files, allows for reading and writing to a csv style file</a:t>
            </a:r>
            <a:endParaRPr/>
          </a:p>
          <a:p>
            <a:pPr indent="0" lvl="0" marL="0" rtl="0" algn="l">
              <a:spcBef>
                <a:spcPts val="0"/>
              </a:spcBef>
              <a:spcAft>
                <a:spcPts val="0"/>
              </a:spcAft>
              <a:buNone/>
            </a:pPr>
            <a:r>
              <a:rPr lang="en-GB"/>
              <a:t>Save files contain high score, level 2 and 3 unlock status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BFS for tracing, random, range, back, automatically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d4a7118a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d4a7118a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d4a7118a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d4a7118a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df4cf275d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df4cf275d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hyperlink" Target="http://drive.google.com/file/d/1ifg9utx34IKhGt_ExtfsHOe60lDdpOcq/view" TargetMode="External"/><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2.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title="Screenshot 2026-04-05 183226-Photoroom.png"/>
          <p:cNvPicPr preferRelativeResize="0"/>
          <p:nvPr/>
        </p:nvPicPr>
        <p:blipFill>
          <a:blip r:embed="rId4">
            <a:alphaModFix/>
          </a:blip>
          <a:stretch>
            <a:fillRect/>
          </a:stretch>
        </p:blipFill>
        <p:spPr>
          <a:xfrm>
            <a:off x="1734613" y="1320122"/>
            <a:ext cx="5454925" cy="838650"/>
          </a:xfrm>
          <a:prstGeom prst="rect">
            <a:avLst/>
          </a:prstGeom>
          <a:noFill/>
          <a:ln>
            <a:noFill/>
          </a:ln>
        </p:spPr>
      </p:pic>
      <p:sp>
        <p:nvSpPr>
          <p:cNvPr id="55" name="Google Shape;55;p13"/>
          <p:cNvSpPr txBox="1"/>
          <p:nvPr/>
        </p:nvSpPr>
        <p:spPr>
          <a:xfrm>
            <a:off x="0" y="3965875"/>
            <a:ext cx="2976000" cy="10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lt1"/>
                </a:solidFill>
                <a:latin typeface="Georgia"/>
                <a:ea typeface="Georgia"/>
                <a:cs typeface="Georgia"/>
                <a:sym typeface="Georgia"/>
              </a:rPr>
              <a:t>Ahmed </a:t>
            </a:r>
            <a:endParaRPr b="1" sz="1500">
              <a:solidFill>
                <a:schemeClr val="lt1"/>
              </a:solidFill>
              <a:latin typeface="Georgia"/>
              <a:ea typeface="Georgia"/>
              <a:cs typeface="Georgia"/>
              <a:sym typeface="Georgia"/>
            </a:endParaRPr>
          </a:p>
          <a:p>
            <a:pPr indent="0" lvl="0" marL="0" rtl="0" algn="l">
              <a:spcBef>
                <a:spcPts val="0"/>
              </a:spcBef>
              <a:spcAft>
                <a:spcPts val="0"/>
              </a:spcAft>
              <a:buNone/>
            </a:pPr>
            <a:r>
              <a:rPr b="1" lang="en-GB" sz="1500">
                <a:solidFill>
                  <a:schemeClr val="lt1"/>
                </a:solidFill>
                <a:latin typeface="Georgia"/>
                <a:ea typeface="Georgia"/>
                <a:cs typeface="Georgia"/>
                <a:sym typeface="Georgia"/>
              </a:rPr>
              <a:t>Rain </a:t>
            </a:r>
            <a:endParaRPr b="1" sz="1500">
              <a:solidFill>
                <a:schemeClr val="lt1"/>
              </a:solidFill>
              <a:latin typeface="Georgia"/>
              <a:ea typeface="Georgia"/>
              <a:cs typeface="Georgia"/>
              <a:sym typeface="Georgia"/>
            </a:endParaRPr>
          </a:p>
          <a:p>
            <a:pPr indent="0" lvl="0" marL="0" rtl="0" algn="l">
              <a:spcBef>
                <a:spcPts val="0"/>
              </a:spcBef>
              <a:spcAft>
                <a:spcPts val="0"/>
              </a:spcAft>
              <a:buNone/>
            </a:pPr>
            <a:r>
              <a:rPr b="1" lang="en-GB" sz="1500">
                <a:solidFill>
                  <a:schemeClr val="lt1"/>
                </a:solidFill>
                <a:latin typeface="Georgia"/>
                <a:ea typeface="Georgia"/>
                <a:cs typeface="Georgia"/>
                <a:sym typeface="Georgia"/>
              </a:rPr>
              <a:t>Kaleb </a:t>
            </a:r>
            <a:endParaRPr b="1" sz="1500">
              <a:solidFill>
                <a:schemeClr val="lt1"/>
              </a:solidFill>
              <a:latin typeface="Georgia"/>
              <a:ea typeface="Georgia"/>
              <a:cs typeface="Georgia"/>
              <a:sym typeface="Georgia"/>
            </a:endParaRPr>
          </a:p>
          <a:p>
            <a:pPr indent="0" lvl="0" marL="0" rtl="0" algn="l">
              <a:spcBef>
                <a:spcPts val="0"/>
              </a:spcBef>
              <a:spcAft>
                <a:spcPts val="0"/>
              </a:spcAft>
              <a:buNone/>
            </a:pPr>
            <a:r>
              <a:rPr b="1" lang="en-GB" sz="1500">
                <a:solidFill>
                  <a:schemeClr val="lt1"/>
                </a:solidFill>
                <a:latin typeface="Georgia"/>
                <a:ea typeface="Georgia"/>
                <a:cs typeface="Georgia"/>
                <a:sym typeface="Georgia"/>
              </a:rPr>
              <a:t>Joseph</a:t>
            </a:r>
            <a:endParaRPr b="1" sz="1500">
              <a:solidFill>
                <a:schemeClr val="lt1"/>
              </a:solidFill>
              <a:latin typeface="Georgia"/>
              <a:ea typeface="Georgia"/>
              <a:cs typeface="Georgia"/>
              <a:sym typeface="Georgia"/>
            </a:endParaRPr>
          </a:p>
        </p:txBody>
      </p:sp>
      <p:sp>
        <p:nvSpPr>
          <p:cNvPr id="56" name="Google Shape;56;p13"/>
          <p:cNvSpPr txBox="1"/>
          <p:nvPr/>
        </p:nvSpPr>
        <p:spPr>
          <a:xfrm>
            <a:off x="2962075" y="205352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500">
                <a:solidFill>
                  <a:schemeClr val="lt1"/>
                </a:solidFill>
                <a:latin typeface="Georgia"/>
                <a:ea typeface="Georgia"/>
                <a:cs typeface="Georgia"/>
                <a:sym typeface="Georgia"/>
              </a:rPr>
              <a:t>CMPT 276 - Group 13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466350" y="280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3120">
                <a:solidFill>
                  <a:schemeClr val="lt1"/>
                </a:solidFill>
                <a:latin typeface="Georgia"/>
                <a:ea typeface="Georgia"/>
                <a:cs typeface="Georgia"/>
                <a:sym typeface="Georgia"/>
              </a:rPr>
              <a:t>Game Design</a:t>
            </a:r>
            <a:endParaRPr b="1" sz="3120">
              <a:solidFill>
                <a:schemeClr val="lt1"/>
              </a:solidFill>
              <a:latin typeface="Georgia"/>
              <a:ea typeface="Georgia"/>
              <a:cs typeface="Georgia"/>
              <a:sym typeface="Georgia"/>
            </a:endParaRPr>
          </a:p>
        </p:txBody>
      </p:sp>
      <p:sp>
        <p:nvSpPr>
          <p:cNvPr id="62" name="Google Shape;62;p14"/>
          <p:cNvSpPr txBox="1"/>
          <p:nvPr>
            <p:ph idx="1" type="body"/>
          </p:nvPr>
        </p:nvSpPr>
        <p:spPr>
          <a:xfrm>
            <a:off x="311700" y="9555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Georgia"/>
              <a:buChar char="-"/>
            </a:pPr>
            <a:r>
              <a:rPr lang="en-GB">
                <a:solidFill>
                  <a:schemeClr val="lt1"/>
                </a:solidFill>
                <a:latin typeface="Georgia"/>
                <a:ea typeface="Georgia"/>
                <a:cs typeface="Georgia"/>
                <a:sym typeface="Georgia"/>
              </a:rPr>
              <a:t>Pirate-themed escape game</a:t>
            </a:r>
            <a:endParaRPr>
              <a:solidFill>
                <a:schemeClr val="lt1"/>
              </a:solidFill>
              <a:latin typeface="Georgia"/>
              <a:ea typeface="Georgia"/>
              <a:cs typeface="Georgia"/>
              <a:sym typeface="Georgia"/>
            </a:endParaRPr>
          </a:p>
          <a:p>
            <a:pPr indent="-342900" lvl="0" marL="457200" rtl="0" algn="l">
              <a:spcBef>
                <a:spcPts val="0"/>
              </a:spcBef>
              <a:spcAft>
                <a:spcPts val="0"/>
              </a:spcAft>
              <a:buClr>
                <a:schemeClr val="lt1"/>
              </a:buClr>
              <a:buSzPts val="1800"/>
              <a:buFont typeface="Georgia"/>
              <a:buChar char="-"/>
            </a:pPr>
            <a:r>
              <a:rPr lang="en-GB">
                <a:solidFill>
                  <a:schemeClr val="lt1"/>
                </a:solidFill>
                <a:latin typeface="Georgia"/>
                <a:ea typeface="Georgia"/>
                <a:cs typeface="Georgia"/>
                <a:sym typeface="Georgia"/>
              </a:rPr>
              <a:t>Rhythm-based game (Inspired by Crypt of the Necrodancer)</a:t>
            </a:r>
            <a:endParaRPr>
              <a:solidFill>
                <a:schemeClr val="lt1"/>
              </a:solidFill>
              <a:latin typeface="Georgia"/>
              <a:ea typeface="Georgia"/>
              <a:cs typeface="Georgia"/>
              <a:sym typeface="Georgia"/>
            </a:endParaRPr>
          </a:p>
          <a:p>
            <a:pPr indent="-342900" lvl="0" marL="457200" rtl="0" algn="l">
              <a:spcBef>
                <a:spcPts val="0"/>
              </a:spcBef>
              <a:spcAft>
                <a:spcPts val="0"/>
              </a:spcAft>
              <a:buClr>
                <a:schemeClr val="lt1"/>
              </a:buClr>
              <a:buSzPts val="1800"/>
              <a:buFont typeface="Georgia"/>
              <a:buChar char="-"/>
            </a:pPr>
            <a:r>
              <a:rPr lang="en-GB">
                <a:solidFill>
                  <a:schemeClr val="lt1"/>
                </a:solidFill>
                <a:latin typeface="Georgia"/>
                <a:ea typeface="Georgia"/>
                <a:cs typeface="Georgia"/>
                <a:sym typeface="Georgia"/>
              </a:rPr>
              <a:t>1 tile/tick = 1 tile/beat</a:t>
            </a:r>
            <a:endParaRPr>
              <a:solidFill>
                <a:schemeClr val="lt1"/>
              </a:solidFill>
              <a:latin typeface="Georgia"/>
              <a:ea typeface="Georgia"/>
              <a:cs typeface="Georgia"/>
              <a:sym typeface="Georgia"/>
            </a:endParaRPr>
          </a:p>
          <a:p>
            <a:pPr indent="-342900" lvl="0" marL="457200" rtl="0" algn="l">
              <a:spcBef>
                <a:spcPts val="0"/>
              </a:spcBef>
              <a:spcAft>
                <a:spcPts val="0"/>
              </a:spcAft>
              <a:buClr>
                <a:schemeClr val="lt1"/>
              </a:buClr>
              <a:buSzPts val="1800"/>
              <a:buFont typeface="Georgia"/>
              <a:buChar char="-"/>
            </a:pPr>
            <a:r>
              <a:rPr lang="en-GB">
                <a:solidFill>
                  <a:schemeClr val="lt1"/>
                </a:solidFill>
                <a:latin typeface="Georgia"/>
                <a:ea typeface="Georgia"/>
                <a:cs typeface="Georgia"/>
                <a:sym typeface="Georgia"/>
              </a:rPr>
              <a:t>Music is core functionality of the game</a:t>
            </a:r>
            <a:endParaRPr>
              <a:solidFill>
                <a:schemeClr val="lt1"/>
              </a:solidFill>
              <a:latin typeface="Georgia"/>
              <a:ea typeface="Georgia"/>
              <a:cs typeface="Georgia"/>
              <a:sym typeface="Georgia"/>
            </a:endParaRPr>
          </a:p>
        </p:txBody>
      </p:sp>
      <p:pic>
        <p:nvPicPr>
          <p:cNvPr id="63" name="Google Shape;63;p14"/>
          <p:cNvPicPr preferRelativeResize="0"/>
          <p:nvPr/>
        </p:nvPicPr>
        <p:blipFill>
          <a:blip r:embed="rId4">
            <a:alphaModFix/>
          </a:blip>
          <a:stretch>
            <a:fillRect/>
          </a:stretch>
        </p:blipFill>
        <p:spPr>
          <a:xfrm>
            <a:off x="883100" y="2571750"/>
            <a:ext cx="2249550" cy="2249550"/>
          </a:xfrm>
          <a:prstGeom prst="rect">
            <a:avLst/>
          </a:prstGeom>
          <a:noFill/>
          <a:ln cap="flat" cmpd="sng" w="19050">
            <a:solidFill>
              <a:schemeClr val="lt1"/>
            </a:solidFill>
            <a:prstDash val="solid"/>
            <a:round/>
            <a:headEnd len="sm" w="sm" type="none"/>
            <a:tailEnd len="sm" w="sm" type="none"/>
          </a:ln>
        </p:spPr>
      </p:pic>
      <p:pic>
        <p:nvPicPr>
          <p:cNvPr id="64" name="Google Shape;64;p14"/>
          <p:cNvPicPr preferRelativeResize="0"/>
          <p:nvPr/>
        </p:nvPicPr>
        <p:blipFill>
          <a:blip r:embed="rId5">
            <a:alphaModFix/>
          </a:blip>
          <a:stretch>
            <a:fillRect/>
          </a:stretch>
        </p:blipFill>
        <p:spPr>
          <a:xfrm>
            <a:off x="3944150" y="2470200"/>
            <a:ext cx="4631651" cy="2375225"/>
          </a:xfrm>
          <a:prstGeom prst="rect">
            <a:avLst/>
          </a:prstGeom>
          <a:noFill/>
          <a:ln cap="flat" cmpd="sng" w="19050">
            <a:solidFill>
              <a:schemeClr val="lt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466350" y="280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3120">
                <a:solidFill>
                  <a:schemeClr val="lt1"/>
                </a:solidFill>
                <a:latin typeface="Georgia"/>
                <a:ea typeface="Georgia"/>
                <a:cs typeface="Georgia"/>
                <a:sym typeface="Georgia"/>
              </a:rPr>
              <a:t>Demo</a:t>
            </a:r>
            <a:endParaRPr b="1" sz="3120">
              <a:solidFill>
                <a:schemeClr val="lt1"/>
              </a:solidFill>
              <a:latin typeface="Georgia"/>
              <a:ea typeface="Georgia"/>
              <a:cs typeface="Georgia"/>
              <a:sym typeface="Georgia"/>
            </a:endParaRPr>
          </a:p>
        </p:txBody>
      </p:sp>
      <p:pic>
        <p:nvPicPr>
          <p:cNvPr id="70" name="Google Shape;70;p15" title="Tempo Of The Tides.mp4">
            <a:hlinkClick r:id="rId4"/>
          </p:cNvPr>
          <p:cNvPicPr preferRelativeResize="0"/>
          <p:nvPr/>
        </p:nvPicPr>
        <p:blipFill>
          <a:blip r:embed="rId5">
            <a:alphaModFix/>
          </a:blip>
          <a:stretch>
            <a:fillRect/>
          </a:stretch>
        </p:blipFill>
        <p:spPr>
          <a:xfrm>
            <a:off x="1820783" y="852800"/>
            <a:ext cx="5502443" cy="4126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1000"/>
                                        <p:tgtEl>
                                          <p:spTgt spid="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 name="Shape 74"/>
        <p:cNvGrpSpPr/>
        <p:nvPr/>
      </p:nvGrpSpPr>
      <p:grpSpPr>
        <a:xfrm>
          <a:off x="0" y="0"/>
          <a:ext cx="0" cy="0"/>
          <a:chOff x="0" y="0"/>
          <a:chExt cx="0" cy="0"/>
        </a:xfrm>
      </p:grpSpPr>
      <p:sp>
        <p:nvSpPr>
          <p:cNvPr id="75" name="Google Shape;75;p16"/>
          <p:cNvSpPr txBox="1"/>
          <p:nvPr>
            <p:ph type="title"/>
          </p:nvPr>
        </p:nvSpPr>
        <p:spPr>
          <a:xfrm>
            <a:off x="466350" y="3115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3100">
                <a:solidFill>
                  <a:schemeClr val="lt1"/>
                </a:solidFill>
                <a:latin typeface="Georgia"/>
                <a:ea typeface="Georgia"/>
                <a:cs typeface="Georgia"/>
                <a:sym typeface="Georgia"/>
              </a:rPr>
              <a:t>Software Design and Architecture</a:t>
            </a:r>
            <a:endParaRPr b="1" sz="3420">
              <a:solidFill>
                <a:schemeClr val="lt1"/>
              </a:solidFill>
              <a:latin typeface="Georgia"/>
              <a:ea typeface="Georgia"/>
              <a:cs typeface="Georgia"/>
              <a:sym typeface="Georgia"/>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Georgia"/>
              <a:buChar char="-"/>
            </a:pPr>
            <a:r>
              <a:rPr lang="en-GB">
                <a:solidFill>
                  <a:schemeClr val="lt1"/>
                </a:solidFill>
                <a:latin typeface="Georgia"/>
                <a:ea typeface="Georgia"/>
                <a:cs typeface="Georgia"/>
                <a:sym typeface="Georgia"/>
              </a:rPr>
              <a:t>Entity code</a:t>
            </a:r>
            <a:r>
              <a:rPr lang="en-GB">
                <a:solidFill>
                  <a:schemeClr val="lt1"/>
                </a:solidFill>
                <a:latin typeface="Georgia"/>
                <a:ea typeface="Georgia"/>
                <a:cs typeface="Georgia"/>
                <a:sym typeface="Georgia"/>
              </a:rPr>
              <a:t> architecture inspired by Godot</a:t>
            </a:r>
            <a:endParaRPr>
              <a:solidFill>
                <a:schemeClr val="lt1"/>
              </a:solidFill>
              <a:latin typeface="Georgia"/>
              <a:ea typeface="Georgia"/>
              <a:cs typeface="Georgia"/>
              <a:sym typeface="Georgia"/>
            </a:endParaRPr>
          </a:p>
          <a:p>
            <a:pPr indent="-342900" lvl="0" marL="457200" rtl="0" algn="l">
              <a:spcBef>
                <a:spcPts val="0"/>
              </a:spcBef>
              <a:spcAft>
                <a:spcPts val="0"/>
              </a:spcAft>
              <a:buClr>
                <a:schemeClr val="lt1"/>
              </a:buClr>
              <a:buSzPts val="1800"/>
              <a:buFont typeface="Georgia"/>
              <a:buChar char="-"/>
            </a:pPr>
            <a:r>
              <a:rPr lang="en-GB">
                <a:solidFill>
                  <a:schemeClr val="lt1"/>
                </a:solidFill>
                <a:latin typeface="Georgia"/>
                <a:ea typeface="Georgia"/>
                <a:cs typeface="Georgia"/>
                <a:sym typeface="Georgia"/>
              </a:rPr>
              <a:t>Uses LibGDX on game core</a:t>
            </a:r>
            <a:endParaRPr>
              <a:solidFill>
                <a:schemeClr val="lt1"/>
              </a:solidFill>
              <a:latin typeface="Georgia"/>
              <a:ea typeface="Georgia"/>
              <a:cs typeface="Georgia"/>
              <a:sym typeface="Georgia"/>
            </a:endParaRPr>
          </a:p>
          <a:p>
            <a:pPr indent="-342900" lvl="0" marL="457200" rtl="0" algn="l">
              <a:spcBef>
                <a:spcPts val="0"/>
              </a:spcBef>
              <a:spcAft>
                <a:spcPts val="0"/>
              </a:spcAft>
              <a:buClr>
                <a:schemeClr val="lt1"/>
              </a:buClr>
              <a:buSzPts val="1800"/>
              <a:buFont typeface="Georgia"/>
              <a:buChar char="-"/>
            </a:pPr>
            <a:r>
              <a:rPr lang="en-GB">
                <a:solidFill>
                  <a:schemeClr val="lt1"/>
                </a:solidFill>
                <a:latin typeface="Georgia"/>
                <a:ea typeface="Georgia"/>
                <a:cs typeface="Georgia"/>
                <a:sym typeface="Georgia"/>
              </a:rPr>
              <a:t>Uses Singleton design pattern and strategy design pattern for level instance</a:t>
            </a:r>
            <a:endParaRPr>
              <a:solidFill>
                <a:schemeClr val="lt1"/>
              </a:solidFill>
              <a:latin typeface="Georgia"/>
              <a:ea typeface="Georgia"/>
              <a:cs typeface="Georgia"/>
              <a:sym typeface="Georgia"/>
            </a:endParaRPr>
          </a:p>
          <a:p>
            <a:pPr indent="-342900" lvl="0" marL="457200" rtl="0" algn="l">
              <a:spcBef>
                <a:spcPts val="0"/>
              </a:spcBef>
              <a:spcAft>
                <a:spcPts val="0"/>
              </a:spcAft>
              <a:buClr>
                <a:schemeClr val="lt1"/>
              </a:buClr>
              <a:buSzPts val="1800"/>
              <a:buFont typeface="Georgia"/>
              <a:buChar char="-"/>
            </a:pPr>
            <a:r>
              <a:rPr lang="en-GB">
                <a:solidFill>
                  <a:schemeClr val="lt1"/>
                </a:solidFill>
                <a:latin typeface="Georgia"/>
                <a:ea typeface="Georgia"/>
                <a:cs typeface="Georgia"/>
                <a:sym typeface="Georgia"/>
              </a:rPr>
              <a:t>Use factory design pattern in levels for tiles and entity instances</a:t>
            </a:r>
            <a:endParaRPr>
              <a:solidFill>
                <a:schemeClr val="lt1"/>
              </a:solidFill>
              <a:latin typeface="Georgia"/>
              <a:ea typeface="Georgia"/>
              <a:cs typeface="Georgia"/>
              <a:sym typeface="Georgia"/>
            </a:endParaRPr>
          </a:p>
          <a:p>
            <a:pPr indent="-342900" lvl="0" marL="457200" rtl="0" algn="l">
              <a:spcBef>
                <a:spcPts val="0"/>
              </a:spcBef>
              <a:spcAft>
                <a:spcPts val="0"/>
              </a:spcAft>
              <a:buClr>
                <a:schemeClr val="lt1"/>
              </a:buClr>
              <a:buSzPts val="1800"/>
              <a:buFont typeface="Georgia"/>
              <a:buChar char="-"/>
            </a:pPr>
            <a:r>
              <a:rPr lang="en-GB">
                <a:solidFill>
                  <a:schemeClr val="lt1"/>
                </a:solidFill>
                <a:latin typeface="Georgia"/>
                <a:ea typeface="Georgia"/>
                <a:cs typeface="Georgia"/>
                <a:sym typeface="Georgia"/>
              </a:rPr>
              <a:t>Uses BFS for enemy</a:t>
            </a:r>
            <a:endParaRPr>
              <a:solidFill>
                <a:schemeClr val="lt1"/>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 name="Shape 80"/>
        <p:cNvGrpSpPr/>
        <p:nvPr/>
      </p:nvGrpSpPr>
      <p:grpSpPr>
        <a:xfrm>
          <a:off x="0" y="0"/>
          <a:ext cx="0" cy="0"/>
          <a:chOff x="0" y="0"/>
          <a:chExt cx="0" cy="0"/>
        </a:xfrm>
      </p:grpSpPr>
      <p:sp>
        <p:nvSpPr>
          <p:cNvPr id="81" name="Google Shape;81;p17"/>
          <p:cNvSpPr txBox="1"/>
          <p:nvPr>
            <p:ph type="title"/>
          </p:nvPr>
        </p:nvSpPr>
        <p:spPr>
          <a:xfrm>
            <a:off x="182325" y="79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3120">
                <a:solidFill>
                  <a:schemeClr val="lt1"/>
                </a:solidFill>
                <a:latin typeface="Georgia"/>
                <a:ea typeface="Georgia"/>
                <a:cs typeface="Georgia"/>
                <a:sym typeface="Georgia"/>
              </a:rPr>
              <a:t>Implementation and Testing</a:t>
            </a:r>
            <a:endParaRPr b="1" sz="3120">
              <a:solidFill>
                <a:schemeClr val="lt1"/>
              </a:solidFill>
              <a:latin typeface="Georgia"/>
              <a:ea typeface="Georgia"/>
              <a:cs typeface="Georgia"/>
              <a:sym typeface="Georgia"/>
            </a:endParaRPr>
          </a:p>
        </p:txBody>
      </p:sp>
      <p:sp>
        <p:nvSpPr>
          <p:cNvPr id="82" name="Google Shape;82;p17"/>
          <p:cNvSpPr txBox="1"/>
          <p:nvPr>
            <p:ph idx="1" type="body"/>
          </p:nvPr>
        </p:nvSpPr>
        <p:spPr>
          <a:xfrm>
            <a:off x="117675" y="1152450"/>
            <a:ext cx="3471900" cy="32220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GB">
                <a:solidFill>
                  <a:schemeClr val="lt1"/>
                </a:solidFill>
                <a:latin typeface="Georgia"/>
                <a:ea typeface="Georgia"/>
                <a:cs typeface="Georgia"/>
                <a:sym typeface="Georgia"/>
              </a:rPr>
              <a:t>Levels: </a:t>
            </a:r>
            <a:endParaRPr>
              <a:solidFill>
                <a:schemeClr val="lt1"/>
              </a:solidFill>
              <a:latin typeface="Georgia"/>
              <a:ea typeface="Georgia"/>
              <a:cs typeface="Georgia"/>
              <a:sym typeface="Georgia"/>
            </a:endParaRPr>
          </a:p>
          <a:p>
            <a:pPr indent="0" lvl="0" marL="0" rtl="0" algn="l">
              <a:lnSpc>
                <a:spcPct val="140000"/>
              </a:lnSpc>
              <a:spcBef>
                <a:spcPts val="1200"/>
              </a:spcBef>
              <a:spcAft>
                <a:spcPts val="0"/>
              </a:spcAft>
              <a:buNone/>
            </a:pPr>
            <a:r>
              <a:t/>
            </a:r>
            <a:endParaRPr sz="1100">
              <a:solidFill>
                <a:srgbClr val="141413"/>
              </a:solidFill>
              <a:highlight>
                <a:srgbClr val="F5F4ED"/>
              </a:highlight>
              <a:latin typeface="Roboto"/>
              <a:ea typeface="Roboto"/>
              <a:cs typeface="Roboto"/>
              <a:sym typeface="Roboto"/>
            </a:endParaRPr>
          </a:p>
          <a:p>
            <a:pPr indent="0" lvl="0" marL="0" rtl="0" algn="l">
              <a:spcBef>
                <a:spcPts val="0"/>
              </a:spcBef>
              <a:spcAft>
                <a:spcPts val="0"/>
              </a:spcAft>
              <a:buNone/>
            </a:pPr>
            <a:r>
              <a:rPr lang="en-GB" sz="1600">
                <a:solidFill>
                  <a:schemeClr val="lt1"/>
                </a:solidFill>
                <a:latin typeface="Georgia"/>
                <a:ea typeface="Georgia"/>
                <a:cs typeface="Georgia"/>
                <a:sym typeface="Georgia"/>
              </a:rPr>
              <a:t>Level is a shared base class handling the grid and game logic, with Level1, Level2, and Level3 </a:t>
            </a:r>
            <a:endParaRPr sz="1600">
              <a:solidFill>
                <a:schemeClr val="lt1"/>
              </a:solidFill>
              <a:latin typeface="Georgia"/>
              <a:ea typeface="Georgia"/>
              <a:cs typeface="Georgia"/>
              <a:sym typeface="Georgia"/>
            </a:endParaRPr>
          </a:p>
          <a:p>
            <a:pPr indent="0" lvl="0" marL="0" rtl="0" algn="l">
              <a:spcBef>
                <a:spcPts val="0"/>
              </a:spcBef>
              <a:spcAft>
                <a:spcPts val="0"/>
              </a:spcAft>
              <a:buClr>
                <a:schemeClr val="dk1"/>
              </a:buClr>
              <a:buSzPct val="68750"/>
              <a:buFont typeface="Arial"/>
              <a:buNone/>
            </a:pPr>
            <a:r>
              <a:t/>
            </a:r>
            <a:endParaRPr sz="1600">
              <a:solidFill>
                <a:schemeClr val="lt1"/>
              </a:solidFill>
              <a:latin typeface="Georgia"/>
              <a:ea typeface="Georgia"/>
              <a:cs typeface="Georgia"/>
              <a:sym typeface="Georgia"/>
            </a:endParaRPr>
          </a:p>
          <a:p>
            <a:pPr indent="0" lvl="0" marL="0" rtl="0" algn="l">
              <a:spcBef>
                <a:spcPts val="600"/>
              </a:spcBef>
              <a:spcAft>
                <a:spcPts val="0"/>
              </a:spcAft>
              <a:buNone/>
            </a:pPr>
            <a:r>
              <a:rPr lang="en-GB" sz="1600">
                <a:solidFill>
                  <a:schemeClr val="lt1"/>
                </a:solidFill>
                <a:latin typeface="Georgia"/>
                <a:ea typeface="Georgia"/>
                <a:cs typeface="Georgia"/>
                <a:sym typeface="Georgia"/>
              </a:rPr>
              <a:t>Implementation: Level initializes the tile grid, spawns all entities, and tracks win/lose state, with each subclass implemented as a singleton defining its own layout.</a:t>
            </a:r>
            <a:endParaRPr sz="1600">
              <a:solidFill>
                <a:schemeClr val="lt1"/>
              </a:solidFill>
              <a:latin typeface="Georgia"/>
              <a:ea typeface="Georgia"/>
              <a:cs typeface="Georgia"/>
              <a:sym typeface="Georgia"/>
            </a:endParaRPr>
          </a:p>
          <a:p>
            <a:pPr indent="0" lvl="0" marL="0" rtl="0" algn="l">
              <a:spcBef>
                <a:spcPts val="600"/>
              </a:spcBef>
              <a:spcAft>
                <a:spcPts val="0"/>
              </a:spcAft>
              <a:buClr>
                <a:schemeClr val="dk1"/>
              </a:buClr>
              <a:buSzPct val="68750"/>
              <a:buFont typeface="Arial"/>
              <a:buNone/>
            </a:pPr>
            <a:r>
              <a:t/>
            </a:r>
            <a:endParaRPr sz="1600">
              <a:solidFill>
                <a:schemeClr val="lt1"/>
              </a:solidFill>
              <a:latin typeface="Georgia"/>
              <a:ea typeface="Georgia"/>
              <a:cs typeface="Georgia"/>
              <a:sym typeface="Georgia"/>
            </a:endParaRPr>
          </a:p>
          <a:p>
            <a:pPr indent="0" lvl="0" marL="0" rtl="0" algn="l">
              <a:spcBef>
                <a:spcPts val="600"/>
              </a:spcBef>
              <a:spcAft>
                <a:spcPts val="0"/>
              </a:spcAft>
              <a:buClr>
                <a:schemeClr val="dk1"/>
              </a:buClr>
              <a:buSzPct val="68750"/>
              <a:buFont typeface="Arial"/>
              <a:buNone/>
            </a:pPr>
            <a:r>
              <a:rPr lang="en-GB" sz="1600">
                <a:solidFill>
                  <a:schemeClr val="lt1"/>
                </a:solidFill>
                <a:latin typeface="Georgia"/>
                <a:ea typeface="Georgia"/>
                <a:cs typeface="Georgia"/>
                <a:sym typeface="Georgia"/>
              </a:rPr>
              <a:t>Testing: Tests covered grid setup, player spawning, score, and distance calculations.</a:t>
            </a:r>
            <a:endParaRPr sz="1600">
              <a:solidFill>
                <a:schemeClr val="lt1"/>
              </a:solidFill>
              <a:latin typeface="Georgia"/>
              <a:ea typeface="Georgia"/>
              <a:cs typeface="Georgia"/>
              <a:sym typeface="Georgia"/>
            </a:endParaRPr>
          </a:p>
          <a:p>
            <a:pPr indent="0" lvl="0" marL="0" rtl="0" algn="l">
              <a:spcBef>
                <a:spcPts val="0"/>
              </a:spcBef>
              <a:spcAft>
                <a:spcPts val="1200"/>
              </a:spcAft>
              <a:buNone/>
            </a:pPr>
            <a:r>
              <a:rPr lang="en-GB" sz="1600">
                <a:solidFill>
                  <a:schemeClr val="lt1"/>
                </a:solidFill>
                <a:latin typeface="Georgia"/>
                <a:ea typeface="Georgia"/>
                <a:cs typeface="Georgia"/>
                <a:sym typeface="Georgia"/>
              </a:rPr>
              <a:t> </a:t>
            </a:r>
            <a:endParaRPr sz="1600">
              <a:solidFill>
                <a:schemeClr val="lt1"/>
              </a:solidFill>
              <a:latin typeface="Georgia"/>
              <a:ea typeface="Georgia"/>
              <a:cs typeface="Georgia"/>
              <a:sym typeface="Georgia"/>
            </a:endParaRPr>
          </a:p>
        </p:txBody>
      </p:sp>
      <p:pic>
        <p:nvPicPr>
          <p:cNvPr id="83" name="Google Shape;83;p17"/>
          <p:cNvPicPr preferRelativeResize="0"/>
          <p:nvPr/>
        </p:nvPicPr>
        <p:blipFill>
          <a:blip r:embed="rId4">
            <a:alphaModFix/>
          </a:blip>
          <a:stretch>
            <a:fillRect/>
          </a:stretch>
        </p:blipFill>
        <p:spPr>
          <a:xfrm>
            <a:off x="3853650" y="689795"/>
            <a:ext cx="1943676" cy="2014532"/>
          </a:xfrm>
          <a:prstGeom prst="rect">
            <a:avLst/>
          </a:prstGeom>
          <a:noFill/>
          <a:ln cap="flat" cmpd="sng" w="19050">
            <a:solidFill>
              <a:schemeClr val="lt1"/>
            </a:solidFill>
            <a:prstDash val="solid"/>
            <a:round/>
            <a:headEnd len="sm" w="sm" type="none"/>
            <a:tailEnd len="sm" w="sm" type="none"/>
          </a:ln>
        </p:spPr>
      </p:pic>
      <p:pic>
        <p:nvPicPr>
          <p:cNvPr id="84" name="Google Shape;84;p17"/>
          <p:cNvPicPr preferRelativeResize="0"/>
          <p:nvPr/>
        </p:nvPicPr>
        <p:blipFill>
          <a:blip r:embed="rId5">
            <a:alphaModFix/>
          </a:blip>
          <a:stretch>
            <a:fillRect/>
          </a:stretch>
        </p:blipFill>
        <p:spPr>
          <a:xfrm>
            <a:off x="5253375" y="2769125"/>
            <a:ext cx="1810950" cy="2103051"/>
          </a:xfrm>
          <a:prstGeom prst="rect">
            <a:avLst/>
          </a:prstGeom>
          <a:noFill/>
          <a:ln cap="flat" cmpd="sng" w="19050">
            <a:solidFill>
              <a:schemeClr val="lt1"/>
            </a:solidFill>
            <a:prstDash val="solid"/>
            <a:round/>
            <a:headEnd len="sm" w="sm" type="none"/>
            <a:tailEnd len="sm" w="sm" type="none"/>
          </a:ln>
        </p:spPr>
      </p:pic>
      <p:pic>
        <p:nvPicPr>
          <p:cNvPr id="85" name="Google Shape;85;p17"/>
          <p:cNvPicPr preferRelativeResize="0"/>
          <p:nvPr/>
        </p:nvPicPr>
        <p:blipFill>
          <a:blip r:embed="rId6">
            <a:alphaModFix/>
          </a:blip>
          <a:stretch>
            <a:fillRect/>
          </a:stretch>
        </p:blipFill>
        <p:spPr>
          <a:xfrm>
            <a:off x="6451100" y="652475"/>
            <a:ext cx="1840140" cy="2014525"/>
          </a:xfrm>
          <a:prstGeom prst="rect">
            <a:avLst/>
          </a:prstGeom>
          <a:noFill/>
          <a:ln cap="flat" cmpd="sng" w="19050">
            <a:solidFill>
              <a:schemeClr val="lt1"/>
            </a:solidFill>
            <a:prstDash val="solid"/>
            <a:round/>
            <a:headEnd len="sm" w="sm" type="none"/>
            <a:tailEnd len="sm" w="sm" type="none"/>
          </a:ln>
        </p:spPr>
      </p:pic>
      <p:sp>
        <p:nvSpPr>
          <p:cNvPr id="86" name="Google Shape;86;p17"/>
          <p:cNvSpPr txBox="1"/>
          <p:nvPr/>
        </p:nvSpPr>
        <p:spPr>
          <a:xfrm>
            <a:off x="4346388" y="2639600"/>
            <a:ext cx="958200" cy="15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chemeClr val="lt1"/>
                </a:solidFill>
                <a:latin typeface="Georgia"/>
                <a:ea typeface="Georgia"/>
                <a:cs typeface="Georgia"/>
                <a:sym typeface="Georgia"/>
              </a:rPr>
              <a:t>Level 1</a:t>
            </a:r>
            <a:endParaRPr b="1" sz="1100">
              <a:solidFill>
                <a:schemeClr val="lt1"/>
              </a:solidFill>
              <a:latin typeface="Georgia"/>
              <a:ea typeface="Georgia"/>
              <a:cs typeface="Georgia"/>
              <a:sym typeface="Georgia"/>
            </a:endParaRPr>
          </a:p>
        </p:txBody>
      </p:sp>
      <p:sp>
        <p:nvSpPr>
          <p:cNvPr id="87" name="Google Shape;87;p17"/>
          <p:cNvSpPr txBox="1"/>
          <p:nvPr/>
        </p:nvSpPr>
        <p:spPr>
          <a:xfrm>
            <a:off x="7233900" y="2616125"/>
            <a:ext cx="958200" cy="15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chemeClr val="lt1"/>
                </a:solidFill>
                <a:latin typeface="Georgia"/>
                <a:ea typeface="Georgia"/>
                <a:cs typeface="Georgia"/>
                <a:sym typeface="Georgia"/>
              </a:rPr>
              <a:t>Level 2</a:t>
            </a:r>
            <a:endParaRPr b="1" sz="1100">
              <a:solidFill>
                <a:schemeClr val="lt1"/>
              </a:solidFill>
              <a:latin typeface="Georgia"/>
              <a:ea typeface="Georgia"/>
              <a:cs typeface="Georgia"/>
              <a:sym typeface="Georgia"/>
            </a:endParaRPr>
          </a:p>
        </p:txBody>
      </p:sp>
      <p:sp>
        <p:nvSpPr>
          <p:cNvPr id="88" name="Google Shape;88;p17"/>
          <p:cNvSpPr txBox="1"/>
          <p:nvPr/>
        </p:nvSpPr>
        <p:spPr>
          <a:xfrm>
            <a:off x="5867900" y="4842775"/>
            <a:ext cx="958200" cy="15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chemeClr val="lt1"/>
                </a:solidFill>
                <a:latin typeface="Georgia"/>
                <a:ea typeface="Georgia"/>
                <a:cs typeface="Georgia"/>
                <a:sym typeface="Georgia"/>
              </a:rPr>
              <a:t>Level 3</a:t>
            </a:r>
            <a:endParaRPr b="1" sz="1100">
              <a:solidFill>
                <a:schemeClr val="lt1"/>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8"/>
          <p:cNvSpPr txBox="1"/>
          <p:nvPr>
            <p:ph type="title"/>
          </p:nvPr>
        </p:nvSpPr>
        <p:spPr>
          <a:xfrm>
            <a:off x="466350" y="280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3120">
                <a:solidFill>
                  <a:schemeClr val="lt1"/>
                </a:solidFill>
                <a:latin typeface="Georgia"/>
                <a:ea typeface="Georgia"/>
                <a:cs typeface="Georgia"/>
                <a:sym typeface="Georgia"/>
              </a:rPr>
              <a:t>Implementation and Testing</a:t>
            </a:r>
            <a:endParaRPr b="1" sz="3120">
              <a:solidFill>
                <a:schemeClr val="lt1"/>
              </a:solidFill>
              <a:latin typeface="Georgia"/>
              <a:ea typeface="Georgia"/>
              <a:cs typeface="Georgia"/>
              <a:sym typeface="Georgia"/>
            </a:endParaRPr>
          </a:p>
        </p:txBody>
      </p:sp>
      <p:cxnSp>
        <p:nvCxnSpPr>
          <p:cNvPr id="94" name="Google Shape;94;p18"/>
          <p:cNvCxnSpPr/>
          <p:nvPr/>
        </p:nvCxnSpPr>
        <p:spPr>
          <a:xfrm>
            <a:off x="4303900" y="1075975"/>
            <a:ext cx="35400" cy="3324900"/>
          </a:xfrm>
          <a:prstGeom prst="straightConnector1">
            <a:avLst/>
          </a:prstGeom>
          <a:noFill/>
          <a:ln cap="flat" cmpd="sng" w="9525">
            <a:solidFill>
              <a:schemeClr val="lt1"/>
            </a:solidFill>
            <a:prstDash val="solid"/>
            <a:round/>
            <a:headEnd len="med" w="med" type="none"/>
            <a:tailEnd len="med" w="med" type="none"/>
          </a:ln>
        </p:spPr>
      </p:cxnSp>
      <p:sp>
        <p:nvSpPr>
          <p:cNvPr id="95" name="Google Shape;95;p18"/>
          <p:cNvSpPr txBox="1"/>
          <p:nvPr>
            <p:ph idx="1" type="body"/>
          </p:nvPr>
        </p:nvSpPr>
        <p:spPr>
          <a:xfrm>
            <a:off x="189275" y="1152450"/>
            <a:ext cx="3471900" cy="322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350">
                <a:solidFill>
                  <a:schemeClr val="lt1"/>
                </a:solidFill>
                <a:latin typeface="Georgia"/>
                <a:ea typeface="Georgia"/>
                <a:cs typeface="Georgia"/>
                <a:sym typeface="Georgia"/>
              </a:rPr>
              <a:t>Player: </a:t>
            </a:r>
            <a:endParaRPr sz="1350">
              <a:solidFill>
                <a:schemeClr val="lt1"/>
              </a:solidFill>
              <a:latin typeface="Georgia"/>
              <a:ea typeface="Georgia"/>
              <a:cs typeface="Georgia"/>
              <a:sym typeface="Georgia"/>
            </a:endParaRPr>
          </a:p>
          <a:p>
            <a:pPr indent="0" lvl="0" marL="0" rtl="0" algn="l">
              <a:spcBef>
                <a:spcPts val="1200"/>
              </a:spcBef>
              <a:spcAft>
                <a:spcPts val="0"/>
              </a:spcAft>
              <a:buNone/>
            </a:pPr>
            <a:r>
              <a:rPr lang="en-GB" sz="1350">
                <a:solidFill>
                  <a:schemeClr val="lt1"/>
                </a:solidFill>
                <a:latin typeface="Georgia"/>
                <a:ea typeface="Georgia"/>
                <a:cs typeface="Georgia"/>
                <a:sym typeface="Georgia"/>
              </a:rPr>
              <a:t>Most player logic is implemented with a state machine.</a:t>
            </a:r>
            <a:endParaRPr sz="1350">
              <a:solidFill>
                <a:schemeClr val="lt1"/>
              </a:solidFill>
              <a:latin typeface="Georgia"/>
              <a:ea typeface="Georgia"/>
              <a:cs typeface="Georgia"/>
              <a:sym typeface="Georgia"/>
            </a:endParaRPr>
          </a:p>
          <a:p>
            <a:pPr indent="0" lvl="0" marL="0" rtl="0" algn="l">
              <a:spcBef>
                <a:spcPts val="1200"/>
              </a:spcBef>
              <a:spcAft>
                <a:spcPts val="0"/>
              </a:spcAft>
              <a:buNone/>
            </a:pPr>
            <a:r>
              <a:rPr lang="en-GB" sz="1350">
                <a:solidFill>
                  <a:schemeClr val="lt1"/>
                </a:solidFill>
                <a:latin typeface="Georgia"/>
                <a:ea typeface="Georgia"/>
                <a:cs typeface="Georgia"/>
                <a:sym typeface="Georgia"/>
              </a:rPr>
              <a:t>The player starts in the idle state, where they can attempt to move, be captured by an enemy, or take damage transitioning to the corresponding state as necessary.</a:t>
            </a:r>
            <a:endParaRPr sz="1350">
              <a:solidFill>
                <a:schemeClr val="lt1"/>
              </a:solidFill>
              <a:latin typeface="Georgia"/>
              <a:ea typeface="Georgia"/>
              <a:cs typeface="Georgia"/>
              <a:sym typeface="Georgia"/>
            </a:endParaRPr>
          </a:p>
          <a:p>
            <a:pPr indent="0" lvl="0" marL="0" rtl="0" algn="l">
              <a:spcBef>
                <a:spcPts val="1200"/>
              </a:spcBef>
              <a:spcAft>
                <a:spcPts val="0"/>
              </a:spcAft>
              <a:buNone/>
            </a:pPr>
            <a:r>
              <a:rPr lang="en-GB" sz="1350">
                <a:solidFill>
                  <a:schemeClr val="lt1"/>
                </a:solidFill>
                <a:latin typeface="Georgia"/>
                <a:ea typeface="Georgia"/>
                <a:cs typeface="Georgia"/>
                <a:sym typeface="Georgia"/>
              </a:rPr>
              <a:t>Testing: Tests verify that state transitions take place under the correct conditions.</a:t>
            </a:r>
            <a:endParaRPr sz="1350">
              <a:solidFill>
                <a:schemeClr val="lt1"/>
              </a:solidFill>
              <a:latin typeface="Georgia"/>
              <a:ea typeface="Georgia"/>
              <a:cs typeface="Georgia"/>
              <a:sym typeface="Georgia"/>
            </a:endParaRPr>
          </a:p>
          <a:p>
            <a:pPr indent="0" lvl="0" marL="0" rtl="0" algn="l">
              <a:spcBef>
                <a:spcPts val="1200"/>
              </a:spcBef>
              <a:spcAft>
                <a:spcPts val="1200"/>
              </a:spcAft>
              <a:buNone/>
            </a:pPr>
            <a:r>
              <a:rPr lang="en-GB" sz="1600">
                <a:solidFill>
                  <a:schemeClr val="lt1"/>
                </a:solidFill>
                <a:latin typeface="Georgia"/>
                <a:ea typeface="Georgia"/>
                <a:cs typeface="Georgia"/>
                <a:sym typeface="Georgia"/>
              </a:rPr>
              <a:t> </a:t>
            </a:r>
            <a:endParaRPr sz="1600">
              <a:solidFill>
                <a:schemeClr val="lt1"/>
              </a:solidFill>
              <a:latin typeface="Georgia"/>
              <a:ea typeface="Georgia"/>
              <a:cs typeface="Georgia"/>
              <a:sym typeface="Georgia"/>
            </a:endParaRPr>
          </a:p>
        </p:txBody>
      </p:sp>
      <p:pic>
        <p:nvPicPr>
          <p:cNvPr id="96" name="Google Shape;96;p18" title="Blank diagram.png"/>
          <p:cNvPicPr preferRelativeResize="0"/>
          <p:nvPr/>
        </p:nvPicPr>
        <p:blipFill>
          <a:blip r:embed="rId4">
            <a:alphaModFix/>
          </a:blip>
          <a:stretch>
            <a:fillRect/>
          </a:stretch>
        </p:blipFill>
        <p:spPr>
          <a:xfrm>
            <a:off x="4839625" y="1179663"/>
            <a:ext cx="3098725" cy="3167576"/>
          </a:xfrm>
          <a:prstGeom prst="rect">
            <a:avLst/>
          </a:prstGeom>
          <a:noFill/>
          <a:ln>
            <a:noFill/>
          </a:ln>
        </p:spPr>
      </p:pic>
      <p:pic>
        <p:nvPicPr>
          <p:cNvPr id="97" name="Google Shape;97;p18"/>
          <p:cNvPicPr preferRelativeResize="0"/>
          <p:nvPr/>
        </p:nvPicPr>
        <p:blipFill>
          <a:blip r:embed="rId5">
            <a:alphaModFix/>
          </a:blip>
          <a:stretch>
            <a:fillRect/>
          </a:stretch>
        </p:blipFill>
        <p:spPr>
          <a:xfrm>
            <a:off x="7069275" y="3382225"/>
            <a:ext cx="1633300" cy="861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19"/>
          <p:cNvSpPr txBox="1"/>
          <p:nvPr>
            <p:ph type="title"/>
          </p:nvPr>
        </p:nvSpPr>
        <p:spPr>
          <a:xfrm>
            <a:off x="466350" y="280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3120">
                <a:solidFill>
                  <a:schemeClr val="lt1"/>
                </a:solidFill>
                <a:latin typeface="Georgia"/>
                <a:ea typeface="Georgia"/>
                <a:cs typeface="Georgia"/>
                <a:sym typeface="Georgia"/>
              </a:rPr>
              <a:t>Implementation and Testing</a:t>
            </a:r>
            <a:endParaRPr b="1" sz="3120">
              <a:solidFill>
                <a:schemeClr val="lt1"/>
              </a:solidFill>
              <a:latin typeface="Georgia"/>
              <a:ea typeface="Georgia"/>
              <a:cs typeface="Georgia"/>
              <a:sym typeface="Georgia"/>
            </a:endParaRPr>
          </a:p>
        </p:txBody>
      </p:sp>
      <p:cxnSp>
        <p:nvCxnSpPr>
          <p:cNvPr id="103" name="Google Shape;103;p19"/>
          <p:cNvCxnSpPr/>
          <p:nvPr/>
        </p:nvCxnSpPr>
        <p:spPr>
          <a:xfrm>
            <a:off x="4303900" y="1075975"/>
            <a:ext cx="35400" cy="3324900"/>
          </a:xfrm>
          <a:prstGeom prst="straightConnector1">
            <a:avLst/>
          </a:prstGeom>
          <a:noFill/>
          <a:ln cap="flat" cmpd="sng" w="9525">
            <a:solidFill>
              <a:schemeClr val="lt1"/>
            </a:solidFill>
            <a:prstDash val="solid"/>
            <a:round/>
            <a:headEnd len="med" w="med" type="none"/>
            <a:tailEnd len="med" w="med" type="none"/>
          </a:ln>
        </p:spPr>
      </p:cxnSp>
      <p:sp>
        <p:nvSpPr>
          <p:cNvPr id="104" name="Google Shape;104;p19"/>
          <p:cNvSpPr txBox="1"/>
          <p:nvPr>
            <p:ph idx="1" type="body"/>
          </p:nvPr>
        </p:nvSpPr>
        <p:spPr>
          <a:xfrm>
            <a:off x="466350" y="1127425"/>
            <a:ext cx="3471900" cy="322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350">
                <a:solidFill>
                  <a:schemeClr val="lt1"/>
                </a:solidFill>
                <a:latin typeface="Georgia"/>
                <a:ea typeface="Georgia"/>
                <a:cs typeface="Georgia"/>
                <a:sym typeface="Georgia"/>
              </a:rPr>
              <a:t>Save Manager</a:t>
            </a:r>
            <a:r>
              <a:rPr lang="en-GB" sz="1350">
                <a:solidFill>
                  <a:schemeClr val="lt1"/>
                </a:solidFill>
                <a:latin typeface="Georgia"/>
                <a:ea typeface="Georgia"/>
                <a:cs typeface="Georgia"/>
                <a:sym typeface="Georgia"/>
              </a:rPr>
              <a:t>: </a:t>
            </a:r>
            <a:endParaRPr sz="1350">
              <a:solidFill>
                <a:schemeClr val="lt1"/>
              </a:solidFill>
              <a:latin typeface="Georgia"/>
              <a:ea typeface="Georgia"/>
              <a:cs typeface="Georgia"/>
              <a:sym typeface="Georgia"/>
            </a:endParaRPr>
          </a:p>
          <a:p>
            <a:pPr indent="0" lvl="0" marL="0" rtl="0" algn="l">
              <a:spcBef>
                <a:spcPts val="1200"/>
              </a:spcBef>
              <a:spcAft>
                <a:spcPts val="0"/>
              </a:spcAft>
              <a:buNone/>
            </a:pPr>
            <a:r>
              <a:rPr lang="en-GB" sz="1350">
                <a:solidFill>
                  <a:schemeClr val="lt1"/>
                </a:solidFill>
                <a:latin typeface="Georgia"/>
                <a:ea typeface="Georgia"/>
                <a:cs typeface="Georgia"/>
                <a:sym typeface="Georgia"/>
              </a:rPr>
              <a:t>Handles saving player high score and level unlock status</a:t>
            </a:r>
            <a:endParaRPr sz="1350">
              <a:solidFill>
                <a:schemeClr val="lt1"/>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350">
                <a:solidFill>
                  <a:schemeClr val="lt1"/>
                </a:solidFill>
                <a:latin typeface="Georgia"/>
                <a:ea typeface="Georgia"/>
                <a:cs typeface="Georgia"/>
                <a:sym typeface="Georgia"/>
              </a:rPr>
              <a:t>Implementation: uses a csv file to hold player information. </a:t>
            </a:r>
            <a:endParaRPr sz="1350">
              <a:solidFill>
                <a:schemeClr val="lt1"/>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350">
                <a:solidFill>
                  <a:schemeClr val="lt1"/>
                </a:solidFill>
                <a:latin typeface="Georgia"/>
                <a:ea typeface="Georgia"/>
                <a:cs typeface="Georgia"/>
                <a:sym typeface="Georgia"/>
              </a:rPr>
              <a:t>Testing: ensures proper read and write actions</a:t>
            </a:r>
            <a:endParaRPr sz="1100">
              <a:solidFill>
                <a:srgbClr val="141413"/>
              </a:solidFill>
              <a:highlight>
                <a:srgbClr val="F5F4ED"/>
              </a:highlight>
              <a:latin typeface="Roboto"/>
              <a:ea typeface="Roboto"/>
              <a:cs typeface="Roboto"/>
              <a:sym typeface="Roboto"/>
            </a:endParaRPr>
          </a:p>
          <a:p>
            <a:pPr indent="0" lvl="0" marL="0" rtl="0" algn="l">
              <a:spcBef>
                <a:spcPts val="0"/>
              </a:spcBef>
              <a:spcAft>
                <a:spcPts val="1200"/>
              </a:spcAft>
              <a:buNone/>
            </a:pPr>
            <a:r>
              <a:rPr lang="en-GB" sz="1600">
                <a:solidFill>
                  <a:schemeClr val="lt1"/>
                </a:solidFill>
                <a:latin typeface="Georgia"/>
                <a:ea typeface="Georgia"/>
                <a:cs typeface="Georgia"/>
                <a:sym typeface="Georgia"/>
              </a:rPr>
              <a:t> </a:t>
            </a:r>
            <a:endParaRPr sz="1600">
              <a:solidFill>
                <a:schemeClr val="lt1"/>
              </a:solidFill>
              <a:latin typeface="Georgia"/>
              <a:ea typeface="Georgia"/>
              <a:cs typeface="Georgia"/>
              <a:sym typeface="Georgia"/>
            </a:endParaRPr>
          </a:p>
        </p:txBody>
      </p:sp>
      <p:sp>
        <p:nvSpPr>
          <p:cNvPr id="105" name="Google Shape;105;p19"/>
          <p:cNvSpPr txBox="1"/>
          <p:nvPr>
            <p:ph idx="1" type="body"/>
          </p:nvPr>
        </p:nvSpPr>
        <p:spPr>
          <a:xfrm>
            <a:off x="4612050" y="1075975"/>
            <a:ext cx="4447500" cy="169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350">
                <a:solidFill>
                  <a:schemeClr val="lt1"/>
                </a:solidFill>
                <a:latin typeface="Georgia"/>
                <a:ea typeface="Georgia"/>
                <a:cs typeface="Georgia"/>
                <a:sym typeface="Georgia"/>
              </a:rPr>
              <a:t>Enemy: </a:t>
            </a:r>
            <a:endParaRPr sz="1350">
              <a:solidFill>
                <a:schemeClr val="lt1"/>
              </a:solidFill>
              <a:latin typeface="Georgia"/>
              <a:ea typeface="Georgia"/>
              <a:cs typeface="Georgia"/>
              <a:sym typeface="Georgia"/>
            </a:endParaRPr>
          </a:p>
          <a:p>
            <a:pPr indent="0" lvl="0" marL="0" rtl="0" algn="l">
              <a:spcBef>
                <a:spcPts val="1200"/>
              </a:spcBef>
              <a:spcAft>
                <a:spcPts val="0"/>
              </a:spcAft>
              <a:buNone/>
            </a:pPr>
            <a:r>
              <a:rPr lang="en-GB" sz="1350">
                <a:solidFill>
                  <a:schemeClr val="lt1"/>
                </a:solidFill>
                <a:latin typeface="Georgia"/>
                <a:ea typeface="Georgia"/>
                <a:cs typeface="Georgia"/>
                <a:sym typeface="Georgia"/>
              </a:rPr>
              <a:t>Enemy is an instance with the automated tracing and path-finding logic inside the interaction with player.</a:t>
            </a:r>
            <a:endParaRPr sz="1350">
              <a:solidFill>
                <a:schemeClr val="lt1"/>
              </a:solidFill>
              <a:latin typeface="Georgia"/>
              <a:ea typeface="Georgia"/>
              <a:cs typeface="Georgia"/>
              <a:sym typeface="Georgia"/>
            </a:endParaRPr>
          </a:p>
          <a:p>
            <a:pPr indent="0" lvl="0" marL="0" rtl="0" algn="l">
              <a:spcBef>
                <a:spcPts val="1200"/>
              </a:spcBef>
              <a:spcAft>
                <a:spcPts val="0"/>
              </a:spcAft>
              <a:buNone/>
            </a:pPr>
            <a:r>
              <a:rPr lang="en-GB" sz="1350">
                <a:solidFill>
                  <a:schemeClr val="lt1"/>
                </a:solidFill>
                <a:latin typeface="Georgia"/>
                <a:ea typeface="Georgia"/>
                <a:cs typeface="Georgia"/>
                <a:sym typeface="Georgia"/>
              </a:rPr>
              <a:t>Implementation: Using BFS with Level-order Traversal to find the actual distance between the enemy and player and where is the next tile to move to when it’s tracing state or outside of the range. Using random logic otherwise.</a:t>
            </a:r>
            <a:endParaRPr sz="1350">
              <a:solidFill>
                <a:schemeClr val="lt1"/>
              </a:solidFill>
              <a:latin typeface="Georgia"/>
              <a:ea typeface="Georgia"/>
              <a:cs typeface="Georgia"/>
              <a:sym typeface="Georgia"/>
            </a:endParaRPr>
          </a:p>
          <a:p>
            <a:pPr indent="0" lvl="0" marL="0" rtl="0" algn="l">
              <a:spcBef>
                <a:spcPts val="1200"/>
              </a:spcBef>
              <a:spcAft>
                <a:spcPts val="0"/>
              </a:spcAft>
              <a:buNone/>
            </a:pPr>
            <a:r>
              <a:t/>
            </a:r>
            <a:endParaRPr sz="1350">
              <a:solidFill>
                <a:schemeClr val="lt1"/>
              </a:solidFill>
              <a:latin typeface="Georgia"/>
              <a:ea typeface="Georgia"/>
              <a:cs typeface="Georgia"/>
              <a:sym typeface="Georgia"/>
            </a:endParaRPr>
          </a:p>
          <a:p>
            <a:pPr indent="0" lvl="0" marL="0" rtl="0" algn="l">
              <a:spcBef>
                <a:spcPts val="1200"/>
              </a:spcBef>
              <a:spcAft>
                <a:spcPts val="1200"/>
              </a:spcAft>
              <a:buNone/>
            </a:pPr>
            <a:r>
              <a:rPr lang="en-GB" sz="1350">
                <a:solidFill>
                  <a:schemeClr val="lt1"/>
                </a:solidFill>
                <a:latin typeface="Georgia"/>
                <a:ea typeface="Georgia"/>
                <a:cs typeface="Georgia"/>
                <a:sym typeface="Georgia"/>
              </a:rPr>
              <a:t>Testing: Test the reaction of enemy in different situations (Map).</a:t>
            </a:r>
            <a:endParaRPr sz="1350">
              <a:solidFill>
                <a:schemeClr val="lt1"/>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20"/>
          <p:cNvSpPr txBox="1"/>
          <p:nvPr>
            <p:ph type="title"/>
          </p:nvPr>
        </p:nvSpPr>
        <p:spPr>
          <a:xfrm>
            <a:off x="360500" y="1304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3120">
                <a:solidFill>
                  <a:schemeClr val="lt1"/>
                </a:solidFill>
                <a:latin typeface="Georgia"/>
                <a:ea typeface="Georgia"/>
                <a:cs typeface="Georgia"/>
                <a:sym typeface="Georgia"/>
              </a:rPr>
              <a:t>Project and Team Management</a:t>
            </a:r>
            <a:endParaRPr b="1" sz="3120">
              <a:solidFill>
                <a:schemeClr val="lt1"/>
              </a:solidFill>
              <a:latin typeface="Georgia"/>
              <a:ea typeface="Georgia"/>
              <a:cs typeface="Georgia"/>
              <a:sym typeface="Georgia"/>
            </a:endParaRPr>
          </a:p>
        </p:txBody>
      </p:sp>
      <p:sp>
        <p:nvSpPr>
          <p:cNvPr id="111" name="Google Shape;111;p20"/>
          <p:cNvSpPr txBox="1"/>
          <p:nvPr>
            <p:ph idx="1" type="body"/>
          </p:nvPr>
        </p:nvSpPr>
        <p:spPr>
          <a:xfrm>
            <a:off x="3589550" y="2934950"/>
            <a:ext cx="45213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solidFill>
                <a:schemeClr val="lt1"/>
              </a:solidFill>
              <a:latin typeface="Georgia"/>
              <a:ea typeface="Georgia"/>
              <a:cs typeface="Georgia"/>
              <a:sym typeface="Georgia"/>
            </a:endParaRPr>
          </a:p>
          <a:p>
            <a:pPr indent="-342900" lvl="0" marL="457200" rtl="0" algn="l">
              <a:spcBef>
                <a:spcPts val="1200"/>
              </a:spcBef>
              <a:spcAft>
                <a:spcPts val="0"/>
              </a:spcAft>
              <a:buClr>
                <a:schemeClr val="lt1"/>
              </a:buClr>
              <a:buSzPts val="1800"/>
              <a:buFont typeface="Georgia"/>
              <a:buChar char="-"/>
            </a:pPr>
            <a:r>
              <a:rPr lang="en-GB">
                <a:solidFill>
                  <a:schemeClr val="lt1"/>
                </a:solidFill>
                <a:latin typeface="Georgia"/>
                <a:ea typeface="Georgia"/>
                <a:cs typeface="Georgia"/>
                <a:sym typeface="Georgia"/>
              </a:rPr>
              <a:t>Weekly wednesdays meeting </a:t>
            </a:r>
            <a:endParaRPr>
              <a:solidFill>
                <a:schemeClr val="lt1"/>
              </a:solidFill>
              <a:latin typeface="Georgia"/>
              <a:ea typeface="Georgia"/>
              <a:cs typeface="Georgia"/>
              <a:sym typeface="Georgia"/>
            </a:endParaRPr>
          </a:p>
          <a:p>
            <a:pPr indent="-342900" lvl="0" marL="457200" rtl="0" algn="l">
              <a:spcBef>
                <a:spcPts val="0"/>
              </a:spcBef>
              <a:spcAft>
                <a:spcPts val="0"/>
              </a:spcAft>
              <a:buClr>
                <a:schemeClr val="lt1"/>
              </a:buClr>
              <a:buSzPts val="1800"/>
              <a:buFont typeface="Georgia"/>
              <a:buChar char="-"/>
            </a:pPr>
            <a:r>
              <a:rPr lang="en-GB">
                <a:solidFill>
                  <a:schemeClr val="lt1"/>
                </a:solidFill>
                <a:latin typeface="Georgia"/>
                <a:ea typeface="Georgia"/>
                <a:cs typeface="Georgia"/>
                <a:sym typeface="Georgia"/>
              </a:rPr>
              <a:t>Discord for communication</a:t>
            </a:r>
            <a:endParaRPr>
              <a:solidFill>
                <a:schemeClr val="lt1"/>
              </a:solidFill>
              <a:latin typeface="Georgia"/>
              <a:ea typeface="Georgia"/>
              <a:cs typeface="Georgia"/>
              <a:sym typeface="Georgia"/>
            </a:endParaRPr>
          </a:p>
          <a:p>
            <a:pPr indent="-342900" lvl="0" marL="457200" rtl="0" algn="l">
              <a:spcBef>
                <a:spcPts val="0"/>
              </a:spcBef>
              <a:spcAft>
                <a:spcPts val="0"/>
              </a:spcAft>
              <a:buClr>
                <a:schemeClr val="lt1"/>
              </a:buClr>
              <a:buSzPts val="1800"/>
              <a:buFont typeface="Georgia"/>
              <a:buChar char="-"/>
            </a:pPr>
            <a:r>
              <a:rPr lang="en-GB">
                <a:solidFill>
                  <a:schemeClr val="lt1"/>
                </a:solidFill>
                <a:latin typeface="Georgia"/>
                <a:ea typeface="Georgia"/>
                <a:cs typeface="Georgia"/>
                <a:sym typeface="Georgia"/>
              </a:rPr>
              <a:t>Issues table for problems handling</a:t>
            </a:r>
            <a:endParaRPr>
              <a:solidFill>
                <a:schemeClr val="lt1"/>
              </a:solidFill>
              <a:latin typeface="Georgia"/>
              <a:ea typeface="Georgia"/>
              <a:cs typeface="Georgia"/>
              <a:sym typeface="Georgia"/>
            </a:endParaRPr>
          </a:p>
        </p:txBody>
      </p:sp>
      <p:pic>
        <p:nvPicPr>
          <p:cNvPr id="112" name="Google Shape;112;p20"/>
          <p:cNvPicPr preferRelativeResize="0"/>
          <p:nvPr/>
        </p:nvPicPr>
        <p:blipFill>
          <a:blip r:embed="rId4">
            <a:alphaModFix/>
          </a:blip>
          <a:stretch>
            <a:fillRect/>
          </a:stretch>
        </p:blipFill>
        <p:spPr>
          <a:xfrm>
            <a:off x="184125" y="852800"/>
            <a:ext cx="3237850" cy="2626551"/>
          </a:xfrm>
          <a:prstGeom prst="rect">
            <a:avLst/>
          </a:prstGeom>
          <a:noFill/>
          <a:ln cap="flat" cmpd="sng" w="19050">
            <a:solidFill>
              <a:schemeClr val="lt1"/>
            </a:solidFill>
            <a:prstDash val="solid"/>
            <a:round/>
            <a:headEnd len="sm" w="sm" type="none"/>
            <a:tailEnd len="sm" w="sm" type="none"/>
          </a:ln>
        </p:spPr>
      </p:pic>
      <p:sp>
        <p:nvSpPr>
          <p:cNvPr id="113" name="Google Shape;113;p20"/>
          <p:cNvSpPr txBox="1"/>
          <p:nvPr/>
        </p:nvSpPr>
        <p:spPr>
          <a:xfrm>
            <a:off x="360500" y="3628975"/>
            <a:ext cx="3000000" cy="14175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lt1"/>
              </a:buClr>
              <a:buSzPts val="1800"/>
              <a:buFont typeface="Georgia"/>
              <a:buChar char="-"/>
            </a:pPr>
            <a:r>
              <a:rPr lang="en-GB" sz="1800">
                <a:solidFill>
                  <a:schemeClr val="lt1"/>
                </a:solidFill>
                <a:latin typeface="Georgia"/>
                <a:ea typeface="Georgia"/>
                <a:cs typeface="Georgia"/>
                <a:sym typeface="Georgia"/>
              </a:rPr>
              <a:t>Utilized github “Project” </a:t>
            </a:r>
            <a:r>
              <a:rPr lang="en-GB" sz="1800">
                <a:solidFill>
                  <a:schemeClr val="lt1"/>
                </a:solidFill>
                <a:latin typeface="Georgia"/>
                <a:ea typeface="Georgia"/>
                <a:cs typeface="Georgia"/>
                <a:sym typeface="Georgia"/>
              </a:rPr>
              <a:t>feature</a:t>
            </a:r>
            <a:r>
              <a:rPr lang="en-GB" sz="1800">
                <a:solidFill>
                  <a:schemeClr val="lt1"/>
                </a:solidFill>
                <a:latin typeface="Georgia"/>
                <a:ea typeface="Georgia"/>
                <a:cs typeface="Georgia"/>
                <a:sym typeface="Georgia"/>
              </a:rPr>
              <a:t> to organize task management</a:t>
            </a:r>
            <a:endParaRPr/>
          </a:p>
        </p:txBody>
      </p:sp>
      <p:pic>
        <p:nvPicPr>
          <p:cNvPr id="114" name="Google Shape;114;p20"/>
          <p:cNvPicPr preferRelativeResize="0"/>
          <p:nvPr/>
        </p:nvPicPr>
        <p:blipFill rotWithShape="1">
          <a:blip r:embed="rId5">
            <a:alphaModFix/>
          </a:blip>
          <a:srcRect b="21783" l="0" r="21783" t="0"/>
          <a:stretch/>
        </p:blipFill>
        <p:spPr>
          <a:xfrm>
            <a:off x="3720475" y="1415625"/>
            <a:ext cx="5270451" cy="177702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p21"/>
          <p:cNvSpPr txBox="1"/>
          <p:nvPr>
            <p:ph type="title"/>
          </p:nvPr>
        </p:nvSpPr>
        <p:spPr>
          <a:xfrm>
            <a:off x="466350" y="280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3100">
                <a:solidFill>
                  <a:schemeClr val="lt1"/>
                </a:solidFill>
                <a:latin typeface="Georgia"/>
                <a:ea typeface="Georgia"/>
                <a:cs typeface="Georgia"/>
                <a:sym typeface="Georgia"/>
              </a:rPr>
              <a:t>Challenges and Lessons Learned</a:t>
            </a:r>
            <a:endParaRPr b="1" sz="3420">
              <a:solidFill>
                <a:schemeClr val="lt1"/>
              </a:solidFill>
              <a:latin typeface="Georgia"/>
              <a:ea typeface="Georgia"/>
              <a:cs typeface="Georgia"/>
              <a:sym typeface="Georgia"/>
            </a:endParaRPr>
          </a:p>
        </p:txBody>
      </p:sp>
      <p:sp>
        <p:nvSpPr>
          <p:cNvPr id="120" name="Google Shape;120;p21"/>
          <p:cNvSpPr txBox="1"/>
          <p:nvPr>
            <p:ph idx="1" type="body"/>
          </p:nvPr>
        </p:nvSpPr>
        <p:spPr>
          <a:xfrm>
            <a:off x="311700" y="1152475"/>
            <a:ext cx="7493100" cy="3416400"/>
          </a:xfrm>
          <a:prstGeom prst="rect">
            <a:avLst/>
          </a:prstGeom>
        </p:spPr>
        <p:txBody>
          <a:bodyPr anchorCtr="0" anchor="t" bIns="91425" lIns="91425" spcFirstLastPara="1" rIns="91425" wrap="square" tIns="91425">
            <a:normAutofit lnSpcReduction="10000"/>
          </a:bodyPr>
          <a:lstStyle/>
          <a:p>
            <a:pPr indent="0" lvl="0" marL="457200" rtl="0" algn="l">
              <a:spcBef>
                <a:spcPts val="0"/>
              </a:spcBef>
              <a:spcAft>
                <a:spcPts val="0"/>
              </a:spcAft>
              <a:buNone/>
            </a:pPr>
            <a:r>
              <a:rPr lang="en-GB" sz="1900">
                <a:solidFill>
                  <a:schemeClr val="lt1"/>
                </a:solidFill>
                <a:latin typeface="Georgia"/>
                <a:ea typeface="Georgia"/>
                <a:cs typeface="Georgia"/>
                <a:sym typeface="Georgia"/>
              </a:rPr>
              <a:t>Challenges: </a:t>
            </a:r>
            <a:endParaRPr sz="1900">
              <a:solidFill>
                <a:schemeClr val="lt1"/>
              </a:solidFill>
              <a:latin typeface="Georgia"/>
              <a:ea typeface="Georgia"/>
              <a:cs typeface="Georgia"/>
              <a:sym typeface="Georgia"/>
            </a:endParaRPr>
          </a:p>
          <a:p>
            <a:pPr indent="-323850" lvl="1" marL="914400" rtl="0" algn="l">
              <a:spcBef>
                <a:spcPts val="1200"/>
              </a:spcBef>
              <a:spcAft>
                <a:spcPts val="0"/>
              </a:spcAft>
              <a:buClr>
                <a:schemeClr val="lt1"/>
              </a:buClr>
              <a:buSzPts val="1500"/>
              <a:buFont typeface="Georgia"/>
              <a:buChar char="-"/>
            </a:pPr>
            <a:r>
              <a:rPr lang="en-GB" sz="1500">
                <a:solidFill>
                  <a:schemeClr val="lt1"/>
                </a:solidFill>
                <a:latin typeface="Georgia"/>
                <a:ea typeface="Georgia"/>
                <a:cs typeface="Georgia"/>
                <a:sym typeface="Georgia"/>
              </a:rPr>
              <a:t>Difficulties in debugging</a:t>
            </a:r>
            <a:endParaRPr sz="1500">
              <a:solidFill>
                <a:schemeClr val="lt1"/>
              </a:solidFill>
              <a:latin typeface="Georgia"/>
              <a:ea typeface="Georgia"/>
              <a:cs typeface="Georgia"/>
              <a:sym typeface="Georgia"/>
            </a:endParaRPr>
          </a:p>
          <a:p>
            <a:pPr indent="-323850" lvl="1" marL="914400" rtl="0" algn="l">
              <a:spcBef>
                <a:spcPts val="0"/>
              </a:spcBef>
              <a:spcAft>
                <a:spcPts val="0"/>
              </a:spcAft>
              <a:buClr>
                <a:schemeClr val="lt1"/>
              </a:buClr>
              <a:buSzPts val="1500"/>
              <a:buFont typeface="Georgia"/>
              <a:buChar char="-"/>
            </a:pPr>
            <a:r>
              <a:rPr lang="en-GB" sz="1500">
                <a:solidFill>
                  <a:schemeClr val="lt1"/>
                </a:solidFill>
                <a:latin typeface="Georgia"/>
                <a:ea typeface="Georgia"/>
                <a:cs typeface="Georgia"/>
                <a:sym typeface="Georgia"/>
              </a:rPr>
              <a:t>Class implementation relying on other incomplete classes</a:t>
            </a:r>
            <a:endParaRPr sz="1500">
              <a:solidFill>
                <a:schemeClr val="lt1"/>
              </a:solidFill>
              <a:latin typeface="Georgia"/>
              <a:ea typeface="Georgia"/>
              <a:cs typeface="Georgia"/>
              <a:sym typeface="Georgia"/>
            </a:endParaRPr>
          </a:p>
          <a:p>
            <a:pPr indent="-323850" lvl="1" marL="914400" rtl="0" algn="l">
              <a:spcBef>
                <a:spcPts val="0"/>
              </a:spcBef>
              <a:spcAft>
                <a:spcPts val="0"/>
              </a:spcAft>
              <a:buClr>
                <a:schemeClr val="lt1"/>
              </a:buClr>
              <a:buSzPts val="1500"/>
              <a:buFont typeface="Georgia"/>
              <a:buChar char="-"/>
            </a:pPr>
            <a:r>
              <a:rPr lang="en-GB" sz="1500">
                <a:solidFill>
                  <a:schemeClr val="lt1"/>
                </a:solidFill>
                <a:latin typeface="Georgia"/>
                <a:ea typeface="Georgia"/>
                <a:cs typeface="Georgia"/>
                <a:sym typeface="Georgia"/>
              </a:rPr>
              <a:t>Time management, as we were unable to fully implement the complete game within the given phase deadline.</a:t>
            </a:r>
            <a:endParaRPr sz="1500">
              <a:solidFill>
                <a:schemeClr val="lt1"/>
              </a:solidFill>
              <a:latin typeface="Georgia"/>
              <a:ea typeface="Georgia"/>
              <a:cs typeface="Georgia"/>
              <a:sym typeface="Georgia"/>
            </a:endParaRPr>
          </a:p>
          <a:p>
            <a:pPr indent="0" lvl="0" marL="914400" rtl="0" algn="l">
              <a:spcBef>
                <a:spcPts val="1200"/>
              </a:spcBef>
              <a:spcAft>
                <a:spcPts val="0"/>
              </a:spcAft>
              <a:buNone/>
            </a:pPr>
            <a:r>
              <a:t/>
            </a:r>
            <a:endParaRPr sz="1900">
              <a:solidFill>
                <a:schemeClr val="lt1"/>
              </a:solidFill>
              <a:latin typeface="Georgia"/>
              <a:ea typeface="Georgia"/>
              <a:cs typeface="Georgia"/>
              <a:sym typeface="Georgia"/>
            </a:endParaRPr>
          </a:p>
          <a:p>
            <a:pPr indent="0" lvl="0" marL="457200" rtl="0" algn="l">
              <a:spcBef>
                <a:spcPts val="1200"/>
              </a:spcBef>
              <a:spcAft>
                <a:spcPts val="0"/>
              </a:spcAft>
              <a:buNone/>
            </a:pPr>
            <a:r>
              <a:rPr lang="en-GB" sz="1900">
                <a:solidFill>
                  <a:schemeClr val="lt1"/>
                </a:solidFill>
                <a:latin typeface="Georgia"/>
                <a:ea typeface="Georgia"/>
                <a:cs typeface="Georgia"/>
                <a:sym typeface="Georgia"/>
              </a:rPr>
              <a:t>Lessons Learned: </a:t>
            </a:r>
            <a:endParaRPr sz="1900">
              <a:solidFill>
                <a:schemeClr val="lt1"/>
              </a:solidFill>
              <a:latin typeface="Georgia"/>
              <a:ea typeface="Georgia"/>
              <a:cs typeface="Georgia"/>
              <a:sym typeface="Georgia"/>
            </a:endParaRPr>
          </a:p>
          <a:p>
            <a:pPr indent="-323850" lvl="1" marL="914400" rtl="0" algn="l">
              <a:spcBef>
                <a:spcPts val="1200"/>
              </a:spcBef>
              <a:spcAft>
                <a:spcPts val="0"/>
              </a:spcAft>
              <a:buClr>
                <a:schemeClr val="lt1"/>
              </a:buClr>
              <a:buSzPts val="1500"/>
              <a:buFont typeface="Georgia"/>
              <a:buChar char="-"/>
            </a:pPr>
            <a:r>
              <a:rPr lang="en-GB" sz="1500">
                <a:solidFill>
                  <a:schemeClr val="lt1"/>
                </a:solidFill>
                <a:latin typeface="Georgia"/>
                <a:ea typeface="Georgia"/>
                <a:cs typeface="Georgia"/>
                <a:sym typeface="Georgia"/>
              </a:rPr>
              <a:t>Allocate more time for debugging</a:t>
            </a:r>
            <a:endParaRPr sz="1500">
              <a:solidFill>
                <a:schemeClr val="lt1"/>
              </a:solidFill>
              <a:latin typeface="Georgia"/>
              <a:ea typeface="Georgia"/>
              <a:cs typeface="Georgia"/>
              <a:sym typeface="Georgia"/>
            </a:endParaRPr>
          </a:p>
          <a:p>
            <a:pPr indent="-323850" lvl="1" marL="914400" rtl="0" algn="l">
              <a:spcBef>
                <a:spcPts val="0"/>
              </a:spcBef>
              <a:spcAft>
                <a:spcPts val="0"/>
              </a:spcAft>
              <a:buClr>
                <a:schemeClr val="lt1"/>
              </a:buClr>
              <a:buSzPts val="1500"/>
              <a:buFont typeface="Georgia"/>
              <a:buChar char="-"/>
            </a:pPr>
            <a:r>
              <a:rPr lang="en-GB" sz="1500">
                <a:solidFill>
                  <a:schemeClr val="lt1"/>
                </a:solidFill>
                <a:latin typeface="Georgia"/>
                <a:ea typeface="Georgia"/>
                <a:cs typeface="Georgia"/>
                <a:sym typeface="Georgia"/>
              </a:rPr>
              <a:t>Set up testing at an early stage</a:t>
            </a:r>
            <a:endParaRPr sz="1500">
              <a:solidFill>
                <a:schemeClr val="lt1"/>
              </a:solidFill>
              <a:latin typeface="Georgia"/>
              <a:ea typeface="Georgia"/>
              <a:cs typeface="Georgia"/>
              <a:sym typeface="Georgia"/>
            </a:endParaRPr>
          </a:p>
          <a:p>
            <a:pPr indent="-323850" lvl="1" marL="914400" rtl="0" algn="l">
              <a:spcBef>
                <a:spcPts val="0"/>
              </a:spcBef>
              <a:spcAft>
                <a:spcPts val="0"/>
              </a:spcAft>
              <a:buClr>
                <a:schemeClr val="lt1"/>
              </a:buClr>
              <a:buSzPts val="1500"/>
              <a:buFont typeface="Georgia"/>
              <a:buChar char="-"/>
            </a:pPr>
            <a:r>
              <a:rPr lang="en-GB" sz="1500">
                <a:solidFill>
                  <a:schemeClr val="lt1"/>
                </a:solidFill>
                <a:latin typeface="Georgia"/>
                <a:ea typeface="Georgia"/>
                <a:cs typeface="Georgia"/>
                <a:sym typeface="Georgia"/>
              </a:rPr>
              <a:t>Make a timeline to be organized for deadlines</a:t>
            </a:r>
            <a:endParaRPr sz="1500">
              <a:solidFill>
                <a:schemeClr val="lt1"/>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 name="Shape 124"/>
        <p:cNvGrpSpPr/>
        <p:nvPr/>
      </p:nvGrpSpPr>
      <p:grpSpPr>
        <a:xfrm>
          <a:off x="0" y="0"/>
          <a:ext cx="0" cy="0"/>
          <a:chOff x="0" y="0"/>
          <a:chExt cx="0" cy="0"/>
        </a:xfrm>
      </p:grpSpPr>
      <p:sp>
        <p:nvSpPr>
          <p:cNvPr id="125" name="Google Shape;125;p22"/>
          <p:cNvSpPr txBox="1"/>
          <p:nvPr>
            <p:ph type="title"/>
          </p:nvPr>
        </p:nvSpPr>
        <p:spPr>
          <a:xfrm>
            <a:off x="3330675" y="22854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3100">
                <a:solidFill>
                  <a:schemeClr val="lt1"/>
                </a:solidFill>
                <a:latin typeface="Georgia"/>
                <a:ea typeface="Georgia"/>
                <a:cs typeface="Georgia"/>
                <a:sym typeface="Georgia"/>
              </a:rPr>
              <a:t>Thank You</a:t>
            </a:r>
            <a:endParaRPr b="1" sz="3420">
              <a:solidFill>
                <a:schemeClr val="lt1"/>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